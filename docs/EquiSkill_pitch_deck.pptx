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70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2748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>
              <a:alpha val="60000"/>
            </a:srgbClr>
          </a:solidFill>
          <a:ln/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59" y="1417320"/>
            <a:ext cx="10437163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Equi</a:t>
            </a:r>
            <a:r>
              <a:rPr lang="en-US" sz="6000" b="1" dirty="0">
                <a:solidFill>
                  <a:srgbClr val="6C63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Skill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0" y="269748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Bridge the skill gap. Land your dream career. Powered by AI.</a:t>
            </a:r>
            <a:endParaRPr lang="en-US" sz="1800" dirty="0">
              <a:solidFill>
                <a:schemeClr val="accent5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79" y="5258471"/>
            <a:ext cx="3428581" cy="1201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C7B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Presented By: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F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Harish Mahendra Pawar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F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COEP Technological University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F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Agentic AI Intern (Lenovo Leap)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863840" y="16916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02 / PROJECT OBJECTIVE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is EquiSkill?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119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 end-to-end AI platform that analyzes your skills, identifies gaps, and builds a personalized career roadmap — making every student job-ready.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C63FF">
              <a:alpha val="15000"/>
            </a:srgb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🎯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Primary Objective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Empower students &amp; job seekers with AI-driven skill analysis and personalized career guidance tailored to real market demands.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25112" y="228600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99432" y="26060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6B6D4">
              <a:alpha val="15000"/>
            </a:srgb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99432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🔍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99432" y="3337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Core Problem We Solve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99432" y="374904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Students graduate without knowing which skills employers need. EquiSkill bridges the knowing-doing gap with data-driven insights.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01584" y="228600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375904" y="26060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75904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📈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375904" y="3337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Measurable Outcome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375904" y="374904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Reduce time-to-hire by 40% through targeted skill development, smart job matching, and resume optimization powered by LLMs.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 / 15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03 / PROBLEM STATEMENT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Employability Crisis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70992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65%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Graduates feel unprepared for jobs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91840" y="160020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91840" y="170992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3.4M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429000" y="22860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 jobs unfilled globally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312724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18mo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5800" y="37033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Average skill-to-job mismatch cycle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91840" y="301752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91840" y="312724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85%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29000" y="37033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Resumes rejected by ATS systems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946084" y="1600200"/>
            <a:ext cx="4712516" cy="1234440"/>
          </a:xfrm>
          <a:prstGeom prst="roundRect">
            <a:avLst>
              <a:gd name="adj" fmla="val 8889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086600" y="170992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Personalized Guidance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086600" y="2029968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Generic career portals don't understand individual skill profiles or learning pace.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946084" y="3017520"/>
            <a:ext cx="4712516" cy="1234440"/>
          </a:xfrm>
          <a:prstGeom prst="roundRect">
            <a:avLst>
              <a:gd name="adj" fmla="val 8889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086600" y="312724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Resume Blind Spots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086600" y="3447288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Students don't know what keywords, skills, or experiences employers are looking for.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946084" y="4434840"/>
            <a:ext cx="4712516" cy="1234440"/>
          </a:xfrm>
          <a:prstGeom prst="roundRect">
            <a:avLst>
              <a:gd name="adj" fmla="val 8889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086600" y="454456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Information Overload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086600" y="4864608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Too many learning platforms with no clear path — students waste months on irrelevant content.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 / 15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 / PROPOSED SOLUTION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EquiSkill Solves It All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unified AI platform connecting skill gaps to career success through an intelligent, personalized pipeline.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🧑‍💼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User Profile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Upload resume &amp; skills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377440" y="2697480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C63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679192" y="219456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679192" y="22860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🤖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679192" y="27432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 Analysis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70632" y="30175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Gemini LLM scans &amp; scores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07992" y="2697480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C63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09744" y="219456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09744" y="22860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🎯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09744" y="27432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Gap Detection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01184" y="30175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Identify missing skills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38544" y="2697480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C63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940296" y="219456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940296" y="22860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🗺️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940296" y="27432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Roadmap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031736" y="30175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Personalized learning plan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769096" y="2697480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C63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070848" y="219456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070848" y="22860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💼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070848" y="27432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Job Match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162288" y="30175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job recommendations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8640" y="393192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22960" y="4114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63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Value Proposition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22960" y="44805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One platform replaces 5+ tools — career portals, resume builders, learning sites, job boards, and AI assistants — all powered by a single intelligence layer.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263640" y="393192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537960" y="4114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Competitive Edge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537960" y="44805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Unlike LinkedIn or Coursera, EquiSkill adapts in real-time to your skill profile and current job market trends using live AI inference.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 / 15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05 / KEY FEATURES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Everything You Need to Succeed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6C63FF">
              <a:alpha val="15000"/>
            </a:srgb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📄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 Resume Analyzer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81635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Deep NLP analysis of your resume against job descriptions with ATS-optimization tips.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25112" y="15544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99432" y="1828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6B6D4">
              <a:alpha val="15000"/>
            </a:srgb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99432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🎯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99432" y="2468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Skill Gap Analysis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99432" y="281635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Compares your current skills to role requirements and surfaces precise gaps to close.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01584" y="15544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375904" y="1828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375904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🗺️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75904" y="2468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Learning Roadmap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375904" y="281635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Auto-generated week-by-week study plan with curated resources for each skill gap.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22960" y="41605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💼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296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Job Matching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2960" y="514807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AI-powered job recommendations ranked by your profile fit score and growth potential.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325112" y="388620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99432" y="41605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C4899">
              <a:alpha val="15000"/>
            </a:srgb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599432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🤖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99432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 Career Chatbot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99432" y="514807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24/7 conversational assistant for career advice, interview prep, and guidance.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101584" y="388620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375904" y="41605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375904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📊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375904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Analytics Dashboard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375904" y="514807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Track applications, skill progress, profile views, and career readiness score over time.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 / 15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06 / TECHNOLOGY STACK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Built with Modern Tech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robust, scalable, production-ready architecture leveraging industry-leading tools and AI APIs.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286000" cy="1234440"/>
          </a:xfrm>
          <a:prstGeom prst="roundRect">
            <a:avLst>
              <a:gd name="adj" fmla="val 8889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⚡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C63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7+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 Categories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971800" y="2103120"/>
            <a:ext cx="2286000" cy="1234440"/>
          </a:xfrm>
          <a:prstGeom prst="roundRect">
            <a:avLst>
              <a:gd name="adj" fmla="val 8889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97180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🏗️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97180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Cloud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97180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Dockerized Deployment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824728" y="1480465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FRONTEND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824728" y="1773073"/>
            <a:ext cx="1458468" cy="329184"/>
          </a:xfrm>
          <a:prstGeom prst="roundRect">
            <a:avLst>
              <a:gd name="adj" fmla="val 16667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824728" y="1773073"/>
            <a:ext cx="14584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⚛️ React.js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02068" y="1773073"/>
            <a:ext cx="1719072" cy="329184"/>
          </a:xfrm>
          <a:prstGeom prst="roundRect">
            <a:avLst>
              <a:gd name="adj" fmla="val 16667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402068" y="1773073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🎨 TailwindCSS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240012" y="1773073"/>
            <a:ext cx="1110996" cy="329184"/>
          </a:xfrm>
          <a:prstGeom prst="roundRect">
            <a:avLst>
              <a:gd name="adj" fmla="val 16667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240012" y="1773073"/>
            <a:ext cx="11109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📦 Vite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824728" y="2257705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BACKEND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824728" y="2550313"/>
            <a:ext cx="1284732" cy="329184"/>
          </a:xfrm>
          <a:prstGeom prst="roundRect">
            <a:avLst>
              <a:gd name="adj" fmla="val 16667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824728" y="2550313"/>
            <a:ext cx="12847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🐍 Python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228332" y="2550313"/>
            <a:ext cx="1284732" cy="329184"/>
          </a:xfrm>
          <a:prstGeom prst="roundRect">
            <a:avLst>
              <a:gd name="adj" fmla="val 16667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228332" y="2550313"/>
            <a:ext cx="12847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⚡ FastAPI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631936" y="2550313"/>
            <a:ext cx="1458468" cy="329184"/>
          </a:xfrm>
          <a:prstGeom prst="roundRect">
            <a:avLst>
              <a:gd name="adj" fmla="val 16667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631936" y="2550313"/>
            <a:ext cx="14584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🔐 JWT Auth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824728" y="3034945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DATABASE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824728" y="3327553"/>
            <a:ext cx="1632204" cy="329184"/>
          </a:xfrm>
          <a:prstGeom prst="roundRect">
            <a:avLst>
              <a:gd name="adj" fmla="val 16667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824728" y="3327553"/>
            <a:ext cx="16322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🐘 PostgreSQL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575804" y="3327553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575804" y="3327553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🍃 MongoDB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066276" y="3327553"/>
            <a:ext cx="1197864" cy="329184"/>
          </a:xfrm>
          <a:prstGeom prst="roundRect">
            <a:avLst>
              <a:gd name="adj" fmla="val 16667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066276" y="3327553"/>
            <a:ext cx="1197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🔺 Redis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824728" y="3812185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 / ML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824728" y="4104793"/>
            <a:ext cx="1632204" cy="329184"/>
          </a:xfrm>
          <a:prstGeom prst="roundRect">
            <a:avLst>
              <a:gd name="adj" fmla="val 16667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824728" y="4104793"/>
            <a:ext cx="16322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💎 Gemini API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575804" y="4104793"/>
            <a:ext cx="1284732" cy="329184"/>
          </a:xfrm>
          <a:prstGeom prst="roundRect">
            <a:avLst>
              <a:gd name="adj" fmla="val 16667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575804" y="4104793"/>
            <a:ext cx="12847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🤖 OpenAI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979408" y="4104793"/>
            <a:ext cx="1545336" cy="329184"/>
          </a:xfrm>
          <a:prstGeom prst="roundRect">
            <a:avLst>
              <a:gd name="adj" fmla="val 16667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979408" y="4104793"/>
            <a:ext cx="1545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🧠 LangChain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0628614" y="4104793"/>
            <a:ext cx="1212866" cy="329184"/>
          </a:xfrm>
          <a:prstGeom prst="roundRect">
            <a:avLst>
              <a:gd name="adj" fmla="val 16667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0437876" y="4096971"/>
            <a:ext cx="1545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🔬 spaCy NLP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824728" y="4589425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CLOUD &amp; DEPLOYMENT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824728" y="4882033"/>
            <a:ext cx="869370" cy="329184"/>
          </a:xfrm>
          <a:prstGeom prst="roundRect">
            <a:avLst>
              <a:gd name="adj" fmla="val 16667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824728" y="4882033"/>
            <a:ext cx="8003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🐳 Docker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812970" y="4882033"/>
            <a:ext cx="1331400" cy="329184"/>
          </a:xfrm>
          <a:prstGeom prst="roundRect">
            <a:avLst>
              <a:gd name="adj" fmla="val 16667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737912" y="4882033"/>
            <a:ext cx="1331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☸️ Docker Compose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8219428" y="4882033"/>
            <a:ext cx="924572" cy="329184"/>
          </a:xfrm>
          <a:prstGeom prst="roundRect">
            <a:avLst>
              <a:gd name="adj" fmla="val 16667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8140192" y="4882033"/>
            <a:ext cx="1059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☁️ AWS / GCP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9219058" y="4879646"/>
            <a:ext cx="1409556" cy="329184"/>
          </a:xfrm>
          <a:prstGeom prst="roundRect">
            <a:avLst>
              <a:gd name="adj" fmla="val 16667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9219058" y="4879646"/>
            <a:ext cx="14095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🔄 GitHub CI/CD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 / 15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07 / SYSTEM ARCHITECTURE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Scalable Architecture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Microservices-ready, containerized architecture ensuring high availability, fault tolerance, and horizontal scalability.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4572000" cy="2011680"/>
          </a:xfrm>
          <a:prstGeom prst="roundRect">
            <a:avLst>
              <a:gd name="adj" fmla="val 5455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Design Principles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 </a:t>
            </a: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Separation of concerns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330098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 </a:t>
            </a: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Stateless REST API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36301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 </a:t>
            </a: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Async processing pipeline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39593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 </a:t>
            </a: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JWT-based security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09360" y="150876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CLIENT LAYER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515100" y="1764792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F8F9FF"/>
          </a:solidFill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15100" y="176479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👤 User Browser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029700" y="1764792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F8F9FF"/>
          </a:solidFill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029700" y="176479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📱 Mobile App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961120" y="2276856"/>
            <a:ext cx="0" cy="164592"/>
          </a:xfrm>
          <a:prstGeom prst="line">
            <a:avLst/>
          </a:prstGeom>
          <a:noFill/>
          <a:ln w="254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09360" y="242316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PRESENTATION LAYER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772400" y="2679192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6C63FF"/>
          </a:solidFill>
          <a:ln w="1524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772400" y="267919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⚛️ React Frontend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961120" y="3191256"/>
            <a:ext cx="0" cy="164592"/>
          </a:xfrm>
          <a:prstGeom prst="line">
            <a:avLst/>
          </a:prstGeom>
          <a:noFill/>
          <a:ln w="254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9360" y="333756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API LAYER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515100" y="3593592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ECFEFF"/>
          </a:solidFill>
          <a:ln w="15240">
            <a:solidFill>
              <a:srgbClr val="A5F3F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15100" y="359359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⚡ FastAPI Backend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029700" y="3593592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ECFEFF"/>
          </a:solidFill>
          <a:ln w="15240">
            <a:solidFill>
              <a:srgbClr val="A5F3F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029700" y="359359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🔐 Auth Service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961120" y="4105656"/>
            <a:ext cx="0" cy="164592"/>
          </a:xfrm>
          <a:prstGeom prst="line">
            <a:avLst/>
          </a:prstGeom>
          <a:noFill/>
          <a:ln w="254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09360" y="425196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 &amp; DATA LAYER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263640" y="4507992"/>
            <a:ext cx="1706880" cy="438912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1524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263640" y="4507992"/>
            <a:ext cx="1706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💎 Gemini AI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107680" y="4507992"/>
            <a:ext cx="1706880" cy="438912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1524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107680" y="4507992"/>
            <a:ext cx="1706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🐘 PostgreSQL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951720" y="4507992"/>
            <a:ext cx="1706880" cy="438912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1524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951720" y="4507992"/>
            <a:ext cx="1706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🍃 MongoDB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961120" y="5020056"/>
            <a:ext cx="0" cy="164592"/>
          </a:xfrm>
          <a:prstGeom prst="line">
            <a:avLst/>
          </a:prstGeom>
          <a:noFill/>
          <a:ln w="254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309360" y="516636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OUTPUT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772400" y="5422392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524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772400" y="542239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📊 Analytics &amp; Results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 / 15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08 / APPLICATION WORKFLOW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It Works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seamless end-to-end experience from signup to career success in just a few steps.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623060" y="2423160"/>
            <a:ext cx="9144000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522476" y="2322576"/>
            <a:ext cx="201168" cy="201168"/>
          </a:xfrm>
          <a:prstGeom prst="ellipse">
            <a:avLst/>
          </a:prstGeom>
          <a:solidFill>
            <a:srgbClr val="6C63FF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148840" cy="2194560"/>
          </a:xfrm>
          <a:prstGeom prst="roundRect">
            <a:avLst>
              <a:gd name="adj" fmla="val 5106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C63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 1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🔐 User Login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Secure JWT authentication with role-based access for students &amp; recruiters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808476" y="2322576"/>
            <a:ext cx="201168" cy="201168"/>
          </a:xfrm>
          <a:prstGeom prst="ellipse">
            <a:avLst/>
          </a:prstGeom>
          <a:solidFill>
            <a:srgbClr val="06B6D4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834640" y="2743200"/>
            <a:ext cx="2148840" cy="2194560"/>
          </a:xfrm>
          <a:prstGeom prst="roundRect">
            <a:avLst>
              <a:gd name="adj" fmla="val 5106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17520" y="29260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 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017520" y="3200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📄 Resume Upload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017520" y="356616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PDF/DOCX upload with instant text extraction and profile creation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94476" y="2322576"/>
            <a:ext cx="201168" cy="201168"/>
          </a:xfrm>
          <a:prstGeom prst="ellipse">
            <a:avLst/>
          </a:prstGeom>
          <a:solidFill>
            <a:srgbClr val="F59E0B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120640" y="2743200"/>
            <a:ext cx="2148840" cy="2194560"/>
          </a:xfrm>
          <a:prstGeom prst="roundRect">
            <a:avLst>
              <a:gd name="adj" fmla="val 5106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303520" y="29260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 3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200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🤖 AI Processing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303520" y="356616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Gemini AI analyzes skills, experience, and matches against job market data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380476" y="2322576"/>
            <a:ext cx="201168" cy="201168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406640" y="2743200"/>
            <a:ext cx="2148840" cy="2194560"/>
          </a:xfrm>
          <a:prstGeom prst="roundRect">
            <a:avLst>
              <a:gd name="adj" fmla="val 5106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589520" y="29260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 4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589520" y="3200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🎯 Gap Analysis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589520" y="356616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Identifies skill gaps with severity scores and prioritized learning order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0666476" y="2322576"/>
            <a:ext cx="201168" cy="201168"/>
          </a:xfrm>
          <a:prstGeom prst="ellipse">
            <a:avLst/>
          </a:prstGeom>
          <a:solidFill>
            <a:srgbClr val="EC4899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692640" y="2743200"/>
            <a:ext cx="2148840" cy="2194560"/>
          </a:xfrm>
          <a:prstGeom prst="roundRect">
            <a:avLst>
              <a:gd name="adj" fmla="val 5106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875520" y="29260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C48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 5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875520" y="3200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🗺️ Roadmap &amp; Jobs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875520" y="356616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Personalized study plan + top job matches delivered to the dashboard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 / 15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09 / APPLICATION PREVIEW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Premium UI Experience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 / 15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 descr="A screenshot of a computer&#10;&#10;Description automatically generated">
            <a:extLst>
              <a:ext uri="{FF2B5EF4-FFF2-40B4-BE49-F238E27FC236}">
                <a16:creationId xmlns:a16="http://schemas.microsoft.com/office/drawing/2014/main" id="{C4B2AB49-0FC4-0DB2-2056-06370919D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89" y="1399822"/>
            <a:ext cx="5491456" cy="282822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0041A23-85B7-1C96-F68D-2178CD4CE702}"/>
              </a:ext>
            </a:extLst>
          </p:cNvPr>
          <p:cNvSpPr txBox="1"/>
          <p:nvPr/>
        </p:nvSpPr>
        <p:spPr>
          <a:xfrm>
            <a:off x="1033246" y="1582466"/>
            <a:ext cx="1282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</a:p>
        </p:txBody>
      </p:sp>
      <p:pic>
        <p:nvPicPr>
          <p:cNvPr id="30" name="Picture 29" descr="A screenshot of a computer&#10;&#10;Description automatically generated">
            <a:extLst>
              <a:ext uri="{FF2B5EF4-FFF2-40B4-BE49-F238E27FC236}">
                <a16:creationId xmlns:a16="http://schemas.microsoft.com/office/drawing/2014/main" id="{E5AEC39C-57BF-4D16-F905-3AE12396FF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2129" y="1393714"/>
            <a:ext cx="5059119" cy="282909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EB8F007-3860-1A04-82F6-C559DD769A5F}"/>
              </a:ext>
            </a:extLst>
          </p:cNvPr>
          <p:cNvSpPr txBox="1"/>
          <p:nvPr/>
        </p:nvSpPr>
        <p:spPr>
          <a:xfrm>
            <a:off x="7059896" y="1679036"/>
            <a:ext cx="1412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Tutorial Generator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22E1026E-0A9C-0E98-FA65-6C7FE7163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2" y="390494"/>
            <a:ext cx="5426764" cy="276765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71F879D5-20AD-5B96-D847-A4923300B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034" y="336401"/>
            <a:ext cx="5112595" cy="2875835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109C2E9A-C8CC-9E4E-B072-C8864F4BCF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1" y="3641118"/>
            <a:ext cx="5426764" cy="2740515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FB68C769-F98F-1059-90C9-232C1715B9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8034" y="3701274"/>
            <a:ext cx="5112595" cy="26202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D4E482-1BEA-F1AE-FEA1-9965D21E91E6}"/>
              </a:ext>
            </a:extLst>
          </p:cNvPr>
          <p:cNvSpPr txBox="1"/>
          <p:nvPr/>
        </p:nvSpPr>
        <p:spPr>
          <a:xfrm>
            <a:off x="7080100" y="693233"/>
            <a:ext cx="1391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Resume Builder</a:t>
            </a: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B94FE06A-CF1C-04E1-129E-97C7B459CAC4}"/>
              </a:ext>
            </a:extLst>
          </p:cNvPr>
          <p:cNvSpPr/>
          <p:nvPr/>
        </p:nvSpPr>
        <p:spPr>
          <a:xfrm>
            <a:off x="364082" y="5063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09 / APPLICATION PREVIEW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20">
            <a:extLst>
              <a:ext uri="{FF2B5EF4-FFF2-40B4-BE49-F238E27FC236}">
                <a16:creationId xmlns:a16="http://schemas.microsoft.com/office/drawing/2014/main" id="{D79D4A07-1C49-6063-0738-D13D9D621836}"/>
              </a:ext>
            </a:extLst>
          </p:cNvPr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 / 15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906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8559D80A-9BCE-8483-AEA3-0A28D2491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281" y="321734"/>
            <a:ext cx="3748605" cy="2905170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7EE0251A-4D25-6D63-3B45-4985EEA12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53" y="3631096"/>
            <a:ext cx="4907660" cy="276056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CE2227-8123-A251-B6A1-A79DB3640D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573" y="321734"/>
            <a:ext cx="5007686" cy="60699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B18C0C6-C566-EE7C-36D7-6E3D1EC89A11}"/>
              </a:ext>
            </a:extLst>
          </p:cNvPr>
          <p:cNvSpPr txBox="1"/>
          <p:nvPr/>
        </p:nvSpPr>
        <p:spPr>
          <a:xfrm>
            <a:off x="1296281" y="498096"/>
            <a:ext cx="1391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Resume Latex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3BA643-51D0-D28B-225B-ECF4154D16E3}"/>
              </a:ext>
            </a:extLst>
          </p:cNvPr>
          <p:cNvSpPr txBox="1"/>
          <p:nvPr/>
        </p:nvSpPr>
        <p:spPr>
          <a:xfrm>
            <a:off x="1633967" y="3967245"/>
            <a:ext cx="1053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Search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B6B8D4-9336-3C2C-C816-217DDEA4A9FF}"/>
              </a:ext>
            </a:extLst>
          </p:cNvPr>
          <p:cNvSpPr txBox="1"/>
          <p:nvPr/>
        </p:nvSpPr>
        <p:spPr>
          <a:xfrm>
            <a:off x="8809737" y="1356990"/>
            <a:ext cx="10534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Resume on Overleaf</a:t>
            </a:r>
          </a:p>
        </p:txBody>
      </p:sp>
      <p:sp>
        <p:nvSpPr>
          <p:cNvPr id="15" name="Text 20">
            <a:extLst>
              <a:ext uri="{FF2B5EF4-FFF2-40B4-BE49-F238E27FC236}">
                <a16:creationId xmlns:a16="http://schemas.microsoft.com/office/drawing/2014/main" id="{C0672FDB-CFA1-3B77-2352-931C92DA45B1}"/>
              </a:ext>
            </a:extLst>
          </p:cNvPr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 / 15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6F1B7A2B-270D-A381-AC38-CD9E5E67C87A}"/>
              </a:ext>
            </a:extLst>
          </p:cNvPr>
          <p:cNvSpPr/>
          <p:nvPr/>
        </p:nvSpPr>
        <p:spPr>
          <a:xfrm>
            <a:off x="305359" y="-745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09 / APPLICATION PREVIEW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9082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 / INNOVATION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Makes Us Different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7240" y="175564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175564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AI-FIRST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1214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🧠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Gemini-Powered Intelligence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2944368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Real-time LLM inference for resume analysis and career recommendations using Google's latest Gemini models.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25112" y="15544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53712" y="175564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53712" y="175564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NOVEL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99432" y="21214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🎯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99432" y="2606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Precision Skill Matching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99432" y="2944368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Multi-dimensional skill vectors mapped against live job market data — not just keyword matching.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101584" y="15544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330184" y="175564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330184" y="175564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UNIQUE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375904" y="21214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⚡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375904" y="2606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End-to-End Automation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375904" y="2944368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From resume upload to job application — the entire workflow is automated with AI at every step.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8640" y="388620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77240" y="408736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77240" y="40873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SCALABLE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22960" y="44531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🏗️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22960" y="4937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Microservices Architecture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22960" y="5276088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Docker-containerized services designed for horizontal scaling to handle millions of users.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325112" y="388620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553712" y="408736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553712" y="40873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99432" y="44531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🤖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599432" y="4937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Adaptive Learning Plans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599432" y="5276088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Roadmaps that update dynamically as job market trends change and as users make progress.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101584" y="388620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330184" y="408736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330184" y="40873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DUAL-SIDED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375904" y="44531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🤝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375904" y="4937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Recruiter Intelligence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375904" y="5276088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Recruiters can discover candidates ranked by AI fit score — a first-of-its-kind matchmaking engine.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 / 15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 / FUTURE SCOPE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Road Ahead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63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🚀 Short-Term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 – 6 Months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C63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</a:t>
            </a:r>
            <a:r>
              <a:rPr lang="en-US" sz="11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LinkedIn OAuth integration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318211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C63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</a:t>
            </a:r>
            <a:r>
              <a:rPr lang="en-US" sz="11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Interview prep simulator with AI feedback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3803904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C63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</a:t>
            </a:r>
            <a:r>
              <a:rPr lang="en-US" sz="11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Advanced resume keyword optimization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4425696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C63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</a:t>
            </a:r>
            <a:r>
              <a:rPr lang="en-US" sz="11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Mobile-responsive PWA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504748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C63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</a:t>
            </a:r>
            <a:r>
              <a:rPr lang="en-US" sz="11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Batch resume processing for recruiters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25112" y="155448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99432" y="1783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📈 Mid-Term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99432" y="21214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 – 18 Months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99432" y="256032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</a:t>
            </a:r>
            <a:r>
              <a:rPr lang="en-US" sz="11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Real-time job board API integrations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99432" y="318211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</a:t>
            </a:r>
            <a:r>
              <a:rPr lang="en-US" sz="11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 mock interview with NLP scoring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99432" y="3803904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</a:t>
            </a:r>
            <a:r>
              <a:rPr lang="en-US" sz="11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Multilingual support (10+ languages)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99432" y="4425696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</a:t>
            </a:r>
            <a:r>
              <a:rPr lang="en-US" sz="11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University &amp; bootcamp partnerships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99432" y="504748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</a:t>
            </a:r>
            <a:r>
              <a:rPr lang="en-US" sz="11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Employer portal &amp; talent pipeline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101584" y="155448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FF7ED"/>
          </a:solidFill>
          <a:ln w="12700">
            <a:solidFill>
              <a:srgbClr val="FDE68A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375904" y="1783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🌟 Long-Term Vision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375904" y="21214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18+ Months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375904" y="256032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</a:t>
            </a:r>
            <a:r>
              <a:rPr lang="en-US" sz="11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National skill ecosystem platform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375904" y="318211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</a:t>
            </a:r>
            <a:r>
              <a:rPr lang="en-US" sz="11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Credential verification via blockchain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375904" y="3803904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</a:t>
            </a:r>
            <a:r>
              <a:rPr lang="en-US" sz="11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Predictive salary &amp; growth modeling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375904" y="4425696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</a:t>
            </a:r>
            <a:r>
              <a:rPr lang="en-US" sz="11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Government &amp; enterprise partnerships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75904" y="504748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</a:t>
            </a:r>
            <a:r>
              <a:rPr lang="en-US" sz="11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Global EdTech marketplace integration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13 / 15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 / EXPECTED IMPACT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Real-World Impact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👩‍🎓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54480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 Students &amp; Job Seekers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554480" y="2212848"/>
            <a:ext cx="4114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40% faster job placement, clear skill roadmaps, higher resume pass rates through ATS filters, and personalized 1-to-1 AI guidance previously available only to premium career coaches.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53912" y="155448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28232" y="184708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CFEFF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28232" y="1847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🏢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159752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 Organizations &amp; Recruiters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159752" y="2212848"/>
            <a:ext cx="4114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60% reduction in screening time, higher quality candidates, AI-ranked applicant pools, and data-driven hiring decisions based on verified skill profiles.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22960" y="417880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2960" y="4178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🌍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554480" y="4160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 Society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554480" y="4544568"/>
            <a:ext cx="4114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Democratize access to career guidance for students from tier-2 and tier-3 cities who can't afford premium coaching, reducing employability inequality nationwide.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53912" y="388620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C63FF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28232" y="417880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28232" y="4178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🏭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159752" y="4160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 the Industry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159752" y="4544568"/>
            <a:ext cx="4114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Bridge the $8.5T talent shortage gap, accelerate industry adoption of AI in HR processes, and create a new standard for data-driven career intelligence platforms.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14 / 15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>
              <a:alpha val="55000"/>
            </a:srgb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68580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5B4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13 / CONCLUSION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71600" y="1005840"/>
            <a:ext cx="9418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Future of Career Intelligence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3200" b="1" dirty="0">
                <a:solidFill>
                  <a:srgbClr val="6C63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Starts Here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286000" y="224028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EquiSkill isn't just a platform — it's a movement to make every student job-ready with the power of AI.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371600" y="3063240"/>
            <a:ext cx="292608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600200" y="3246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🤖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600200" y="3703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AI-First Platform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600200" y="4023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Gemini-powered intelligence at every touchpoint of the career journey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0" y="3063240"/>
            <a:ext cx="292608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00600" y="3246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🎯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00600" y="3703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 Problem, Real Impact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00600" y="4023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Solving a $8.5T talent gap with precision skill matching and roadmaps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772400" y="3063240"/>
            <a:ext cx="292608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001000" y="3246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🚀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001000" y="3703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Ready to Scale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001000" y="4023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Microservices architecture built for millions of users from day one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286000" y="54406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"Empowering every student to reach their full career potential, one skill at a time."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1242</Words>
  <Application>Microsoft Office PowerPoint</Application>
  <PresentationFormat>Widescreen</PresentationFormat>
  <Paragraphs>264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Harish Pawar</cp:lastModifiedBy>
  <cp:revision>2</cp:revision>
  <dcterms:created xsi:type="dcterms:W3CDTF">2026-07-10T04:20:56Z</dcterms:created>
  <dcterms:modified xsi:type="dcterms:W3CDTF">2026-07-10T05:55:25Z</dcterms:modified>
</cp:coreProperties>
</file>